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8"/>
  </p:notesMasterIdLst>
  <p:sldIdLst>
    <p:sldId id="256" r:id="rId2"/>
    <p:sldId id="257" r:id="rId3"/>
    <p:sldId id="311" r:id="rId4"/>
    <p:sldId id="263" r:id="rId5"/>
    <p:sldId id="261" r:id="rId6"/>
    <p:sldId id="259" r:id="rId7"/>
  </p:sldIdLst>
  <p:sldSz cx="9144000" cy="5143500" type="screen16x9"/>
  <p:notesSz cx="6858000" cy="9144000"/>
  <p:embeddedFontLst>
    <p:embeddedFont>
      <p:font typeface="Maven Pro" panose="020B0604020202020204" charset="0"/>
      <p:regular r:id="rId9"/>
      <p:bold r:id="rId10"/>
    </p:embeddedFont>
    <p:embeddedFont>
      <p:font typeface="Nunito Light" pitchFamily="2" charset="0"/>
      <p:regular r:id="rId11"/>
      <p: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078AFC-BCE5-4369-B04C-87C8E188400A}">
  <a:tblStyle styleId="{E9078AFC-BCE5-4369-B04C-87C8E18840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4948D90-A8D3-4325-9B25-1CA28947CAC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5" autoAdjust="0"/>
    <p:restoredTop sz="94660"/>
  </p:normalViewPr>
  <p:slideViewPr>
    <p:cSldViewPr snapToGrid="0">
      <p:cViewPr varScale="1">
        <p:scale>
          <a:sx n="82" d="100"/>
          <a:sy n="82" d="100"/>
        </p:scale>
        <p:origin x="9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ed76d312f3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ed76d312f3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3D37ACB1-C1E1-FE35-79C4-4E76E50F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ed76d312f3_0_118:notes">
            <a:extLst>
              <a:ext uri="{FF2B5EF4-FFF2-40B4-BE49-F238E27FC236}">
                <a16:creationId xmlns:a16="http://schemas.microsoft.com/office/drawing/2014/main" id="{C7D3BDDB-FDAE-CDB7-E43B-0368E071BE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ed76d312f3_0_118:notes">
            <a:extLst>
              <a:ext uri="{FF2B5EF4-FFF2-40B4-BE49-F238E27FC236}">
                <a16:creationId xmlns:a16="http://schemas.microsoft.com/office/drawing/2014/main" id="{4357DFDE-28FA-9B88-204C-B30757B2C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9733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4bc9b2816726422d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4bc9b2816726422d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ed76d312f3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ed76d312f3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ed76d312f3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ed76d312f3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355975" y="2187950"/>
            <a:ext cx="5074800" cy="181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355975" y="4117425"/>
            <a:ext cx="3453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126075"/>
            <a:ext cx="77040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3667825" y="1604325"/>
            <a:ext cx="4377600" cy="11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3667825" y="2794875"/>
            <a:ext cx="4377600" cy="7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subTitle" idx="1"/>
          </p:nvPr>
        </p:nvSpPr>
        <p:spPr>
          <a:xfrm>
            <a:off x="5012625" y="2237900"/>
            <a:ext cx="2460900" cy="17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subTitle" idx="2"/>
          </p:nvPr>
        </p:nvSpPr>
        <p:spPr>
          <a:xfrm>
            <a:off x="1670450" y="2237900"/>
            <a:ext cx="2460900" cy="17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subTitle" idx="3"/>
          </p:nvPr>
        </p:nvSpPr>
        <p:spPr>
          <a:xfrm>
            <a:off x="1670451" y="1679000"/>
            <a:ext cx="2460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subTitle" idx="4"/>
          </p:nvPr>
        </p:nvSpPr>
        <p:spPr>
          <a:xfrm>
            <a:off x="5012650" y="1679000"/>
            <a:ext cx="2460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-11966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subTitle" idx="1"/>
          </p:nvPr>
        </p:nvSpPr>
        <p:spPr>
          <a:xfrm>
            <a:off x="720000" y="3042943"/>
            <a:ext cx="5173200" cy="12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subTitle" idx="2"/>
          </p:nvPr>
        </p:nvSpPr>
        <p:spPr>
          <a:xfrm>
            <a:off x="720000" y="1582600"/>
            <a:ext cx="5173200" cy="12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70" r:id="rId5"/>
    <p:sldLayoutId id="2147483671" r:id="rId6"/>
    <p:sldLayoutId id="2147483678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>
            <a:spLocks noGrp="1"/>
          </p:cNvSpPr>
          <p:nvPr>
            <p:ph type="ctrTitle"/>
          </p:nvPr>
        </p:nvSpPr>
        <p:spPr>
          <a:xfrm>
            <a:off x="732045" y="945558"/>
            <a:ext cx="5074800" cy="181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BCG TASK- 4</a:t>
            </a:r>
            <a:endParaRPr b="1" dirty="0"/>
          </a:p>
        </p:txBody>
      </p:sp>
      <p:sp>
        <p:nvSpPr>
          <p:cNvPr id="221" name="Google Shape;221;p37"/>
          <p:cNvSpPr txBox="1">
            <a:spLocks noGrp="1"/>
          </p:cNvSpPr>
          <p:nvPr>
            <p:ph type="subTitle" idx="1"/>
          </p:nvPr>
        </p:nvSpPr>
        <p:spPr>
          <a:xfrm>
            <a:off x="732045" y="4060441"/>
            <a:ext cx="3453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Shreya m.s</a:t>
            </a:r>
            <a:endParaRPr dirty="0"/>
          </a:p>
        </p:txBody>
      </p:sp>
      <p:sp>
        <p:nvSpPr>
          <p:cNvPr id="3" name="Google Shape;221;p37">
            <a:extLst>
              <a:ext uri="{FF2B5EF4-FFF2-40B4-BE49-F238E27FC236}">
                <a16:creationId xmlns:a16="http://schemas.microsoft.com/office/drawing/2014/main" id="{9EBB5F15-1FBA-ECCC-27F0-2E4FF268362B}"/>
              </a:ext>
            </a:extLst>
          </p:cNvPr>
          <p:cNvSpPr txBox="1">
            <a:spLocks/>
          </p:cNvSpPr>
          <p:nvPr/>
        </p:nvSpPr>
        <p:spPr>
          <a:xfrm>
            <a:off x="732045" y="2723941"/>
            <a:ext cx="3939346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None/>
              <a:defRPr sz="14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/>
            <a:r>
              <a:rPr lang="en-US" sz="1800" dirty="0"/>
              <a:t>Understanding Consumer Needs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>
            <a:spLocks noGrp="1"/>
          </p:cNvSpPr>
          <p:nvPr>
            <p:ph type="title"/>
          </p:nvPr>
        </p:nvSpPr>
        <p:spPr>
          <a:xfrm>
            <a:off x="531156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/>
              <a:t>Sub-Task 1</a:t>
            </a:r>
            <a:endParaRPr sz="2400" b="1" dirty="0"/>
          </a:p>
        </p:txBody>
      </p:sp>
      <p:sp>
        <p:nvSpPr>
          <p:cNvPr id="227" name="Google Shape;227;p38"/>
          <p:cNvSpPr txBox="1">
            <a:spLocks noGrp="1"/>
          </p:cNvSpPr>
          <p:nvPr>
            <p:ph type="body" idx="1"/>
          </p:nvPr>
        </p:nvSpPr>
        <p:spPr>
          <a:xfrm>
            <a:off x="610669" y="440275"/>
            <a:ext cx="77040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Criteria: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F6E1FF-B895-C044-54AA-3312E5099479}"/>
              </a:ext>
            </a:extLst>
          </p:cNvPr>
          <p:cNvSpPr txBox="1"/>
          <p:nvPr/>
        </p:nvSpPr>
        <p:spPr>
          <a:xfrm>
            <a:off x="701638" y="859086"/>
            <a:ext cx="820011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Affordability:</a:t>
            </a:r>
          </a:p>
          <a:p>
            <a:pPr>
              <a:buClr>
                <a:schemeClr val="tx1"/>
              </a:buClr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         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 Price comparison between handset leasing and normal plan.</a:t>
            </a:r>
          </a:p>
          <a:p>
            <a:pPr>
              <a:buClr>
                <a:schemeClr val="tx1"/>
              </a:buClr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           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Price sensitivity.</a:t>
            </a:r>
          </a:p>
          <a:p>
            <a:pPr marL="342900" indent="-342900">
              <a:buClr>
                <a:schemeClr val="tx1"/>
              </a:buClr>
              <a:buAutoNum type="arabicPeriod" startAt="2"/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Attractiveness:</a:t>
            </a:r>
          </a:p>
          <a:p>
            <a:pPr>
              <a:buClr>
                <a:schemeClr val="tx1"/>
              </a:buClr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           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Is it ready?</a:t>
            </a:r>
          </a:p>
          <a:p>
            <a:pPr>
              <a:buClr>
                <a:schemeClr val="tx1"/>
              </a:buClr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           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Percentage of customers that prefer handset leasing to traditional plans.</a:t>
            </a:r>
          </a:p>
          <a:p>
            <a:pPr marL="342900" indent="-342900">
              <a:buClr>
                <a:schemeClr val="tx1"/>
              </a:buClr>
              <a:buAutoNum type="arabicPeriod" startAt="3"/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Ability to upgrade:</a:t>
            </a:r>
          </a:p>
          <a:p>
            <a:pPr>
              <a:buClr>
                <a:schemeClr val="tx1"/>
              </a:buClr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           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Desired frequency to upgrade phone,</a:t>
            </a:r>
          </a:p>
          <a:p>
            <a:pPr marL="342900" indent="-342900">
              <a:buClr>
                <a:schemeClr val="tx1"/>
              </a:buClr>
              <a:buAutoNum type="arabicPeriod" startAt="4"/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Up-front costs:</a:t>
            </a:r>
          </a:p>
          <a:p>
            <a:pPr>
              <a:buClr>
                <a:schemeClr val="tx1"/>
              </a:buClr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           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Sensitivity to higher up-front costs.</a:t>
            </a:r>
          </a:p>
          <a:p>
            <a:pPr marL="342900" indent="-342900">
              <a:buClr>
                <a:schemeClr val="tx1"/>
              </a:buClr>
              <a:buAutoNum type="arabicPeriod" startAt="5"/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Option to buy phone:</a:t>
            </a:r>
          </a:p>
          <a:p>
            <a:pPr>
              <a:buClr>
                <a:schemeClr val="tx1"/>
              </a:buClr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           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How many customer prefer to keep their phone.</a:t>
            </a:r>
          </a:p>
          <a:p>
            <a:pPr marL="342900" indent="-342900">
              <a:buClr>
                <a:schemeClr val="tx1"/>
              </a:buClr>
              <a:buAutoNum type="arabicPeriod" startAt="6"/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Damage and Insurance:</a:t>
            </a:r>
          </a:p>
          <a:p>
            <a:pPr>
              <a:buClr>
                <a:schemeClr val="tx1"/>
              </a:buClr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           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Importance of insurance to customers.</a:t>
            </a:r>
          </a:p>
          <a:p>
            <a:pPr>
              <a:buClr>
                <a:schemeClr val="tx1"/>
              </a:buClr>
            </a:pP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           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How often does customer damage phones.</a:t>
            </a:r>
            <a:endParaRPr lang="en-IN" b="1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AD81ECA1-44BF-247E-9AD6-27A34A5E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>
            <a:extLst>
              <a:ext uri="{FF2B5EF4-FFF2-40B4-BE49-F238E27FC236}">
                <a16:creationId xmlns:a16="http://schemas.microsoft.com/office/drawing/2014/main" id="{7DC94B9B-DE25-E604-FABC-2CCB3045A1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1156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/>
              <a:t>Sub-Task 2.1</a:t>
            </a:r>
            <a:endParaRPr sz="2400" b="1" dirty="0"/>
          </a:p>
        </p:txBody>
      </p:sp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45305222-F87A-D533-80E4-7AD772833C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0669" y="440275"/>
            <a:ext cx="77040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Data Summary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DA70C-0C05-8484-D5CF-D2D2C7B4EFE6}"/>
              </a:ext>
            </a:extLst>
          </p:cNvPr>
          <p:cNvSpPr txBox="1"/>
          <p:nvPr/>
        </p:nvSpPr>
        <p:spPr>
          <a:xfrm>
            <a:off x="701638" y="859086"/>
            <a:ext cx="820011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Appealing to stay with the trends for customers under the age of 30, also low up-front costs.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Older customers have less financial issues and lower desire to stay trendy. So only a third were interested.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Most people upgraded every 2 years, equal amount upgraded every one and three years.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People who upgrade after 24 months are price sensitive and the majority would upgrade every year if the upgrade price was lower. Current difference is $100 between one year and 2 years upgrade.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Just under half would not want to pay more than $500 up-front for a new phone.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More people prefer to trade in their phone, 32% keep old phones.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60% are very sensitive to up-front costs when buying a new phone.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Almost half were ready to switch telecom providers to save 10-20%.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Overwhelming majority have not bought insurance for handsets.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38% of people had to replace their handset before the end of their contract due to damage.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17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Defining</a:t>
            </a:r>
            <a:r>
              <a:rPr lang="en" dirty="0"/>
              <a:t> </a:t>
            </a:r>
            <a:r>
              <a:rPr lang="en" b="1" dirty="0"/>
              <a:t>the</a:t>
            </a:r>
            <a:r>
              <a:rPr lang="en" dirty="0"/>
              <a:t> </a:t>
            </a:r>
            <a:r>
              <a:rPr lang="en" b="1" dirty="0"/>
              <a:t>Target</a:t>
            </a:r>
            <a:r>
              <a:rPr lang="en" dirty="0"/>
              <a:t> </a:t>
            </a:r>
            <a:r>
              <a:rPr lang="en" b="1" dirty="0"/>
              <a:t>Segment</a:t>
            </a:r>
            <a:endParaRPr b="1" dirty="0"/>
          </a:p>
        </p:txBody>
      </p:sp>
      <p:sp>
        <p:nvSpPr>
          <p:cNvPr id="278" name="Google Shape;278;p44"/>
          <p:cNvSpPr txBox="1">
            <a:spLocks noGrp="1"/>
          </p:cNvSpPr>
          <p:nvPr>
            <p:ph type="subTitle" idx="1"/>
          </p:nvPr>
        </p:nvSpPr>
        <p:spPr>
          <a:xfrm>
            <a:off x="4731026" y="2068935"/>
            <a:ext cx="3418384" cy="17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Cheaper and frequent phone upgrades that allows one to stay ‘trendy’.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Low up-front costs and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overall costs.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Insurance is included.</a:t>
            </a:r>
            <a:endParaRPr sz="1600" dirty="0"/>
          </a:p>
        </p:txBody>
      </p:sp>
      <p:sp>
        <p:nvSpPr>
          <p:cNvPr id="279" name="Google Shape;279;p44"/>
          <p:cNvSpPr txBox="1">
            <a:spLocks noGrp="1"/>
          </p:cNvSpPr>
          <p:nvPr>
            <p:ph type="subTitle" idx="2"/>
          </p:nvPr>
        </p:nvSpPr>
        <p:spPr>
          <a:xfrm>
            <a:off x="994590" y="2068935"/>
            <a:ext cx="3299114" cy="17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Customer under the age of 30 who upgrade their phones every 24 months</a:t>
            </a:r>
            <a:endParaRPr sz="1600" dirty="0"/>
          </a:p>
        </p:txBody>
      </p:sp>
      <p:sp>
        <p:nvSpPr>
          <p:cNvPr id="280" name="Google Shape;280;p44"/>
          <p:cNvSpPr txBox="1">
            <a:spLocks noGrp="1"/>
          </p:cNvSpPr>
          <p:nvPr>
            <p:ph type="subTitle" idx="3"/>
          </p:nvPr>
        </p:nvSpPr>
        <p:spPr>
          <a:xfrm>
            <a:off x="1413697" y="1510035"/>
            <a:ext cx="2460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Market segment</a:t>
            </a:r>
            <a:endParaRPr b="1" dirty="0"/>
          </a:p>
        </p:txBody>
      </p:sp>
      <p:sp>
        <p:nvSpPr>
          <p:cNvPr id="281" name="Google Shape;281;p44"/>
          <p:cNvSpPr txBox="1">
            <a:spLocks noGrp="1"/>
          </p:cNvSpPr>
          <p:nvPr>
            <p:ph type="subTitle" idx="4"/>
          </p:nvPr>
        </p:nvSpPr>
        <p:spPr>
          <a:xfrm>
            <a:off x="5688510" y="1399550"/>
            <a:ext cx="2460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Marketing Targets</a:t>
            </a:r>
            <a:endParaRPr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/>
              <a:t>Offering Changes &amp; Product Name</a:t>
            </a:r>
            <a:endParaRPr sz="2800" b="1" dirty="0"/>
          </a:p>
        </p:txBody>
      </p:sp>
      <p:sp>
        <p:nvSpPr>
          <p:cNvPr id="265" name="Google Shape;265;p42"/>
          <p:cNvSpPr txBox="1">
            <a:spLocks noGrp="1"/>
          </p:cNvSpPr>
          <p:nvPr>
            <p:ph type="subTitle" idx="1"/>
          </p:nvPr>
        </p:nvSpPr>
        <p:spPr>
          <a:xfrm>
            <a:off x="720000" y="3042943"/>
            <a:ext cx="5173200" cy="12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/>
              <a:t>Product Name:</a:t>
            </a:r>
            <a:endParaRPr lang="en-IN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IN" sz="1400" b="1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IN" sz="1400" b="1" dirty="0"/>
              <a:t>  “The </a:t>
            </a:r>
            <a:r>
              <a:rPr lang="en-IN" sz="1400" b="1" dirty="0" err="1"/>
              <a:t>rentset</a:t>
            </a:r>
            <a:r>
              <a:rPr lang="en-IN" sz="1400" b="1" dirty="0"/>
              <a:t>” </a:t>
            </a:r>
            <a:r>
              <a:rPr lang="en-IN" sz="1400" dirty="0"/>
              <a:t>Plan.</a:t>
            </a:r>
            <a:endParaRPr sz="1600" b="1" dirty="0"/>
          </a:p>
        </p:txBody>
      </p:sp>
      <p:sp>
        <p:nvSpPr>
          <p:cNvPr id="266" name="Google Shape;266;p42"/>
          <p:cNvSpPr txBox="1">
            <a:spLocks noGrp="1"/>
          </p:cNvSpPr>
          <p:nvPr>
            <p:ph type="subTitle" idx="2"/>
          </p:nvPr>
        </p:nvSpPr>
        <p:spPr>
          <a:xfrm>
            <a:off x="719999" y="1582600"/>
            <a:ext cx="6431571" cy="12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/>
              <a:t>Offering Changes: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Significally lower the upgrade cost.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Add an option to keep the phone once the retail price has been covered.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Change the option for trade-in/return device to be optional.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3D9DEC-3BB7-B7B0-C499-569112042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511443"/>
              </p:ext>
            </p:extLst>
          </p:nvPr>
        </p:nvGraphicFramePr>
        <p:xfrm>
          <a:off x="962526" y="1049154"/>
          <a:ext cx="7045693" cy="262769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104144">
                  <a:extLst>
                    <a:ext uri="{9D8B030D-6E8A-4147-A177-3AD203B41FA5}">
                      <a16:colId xmlns:a16="http://schemas.microsoft.com/office/drawing/2014/main" val="2329857139"/>
                    </a:ext>
                  </a:extLst>
                </a:gridCol>
                <a:gridCol w="1594048">
                  <a:extLst>
                    <a:ext uri="{9D8B030D-6E8A-4147-A177-3AD203B41FA5}">
                      <a16:colId xmlns:a16="http://schemas.microsoft.com/office/drawing/2014/main" val="2619219453"/>
                    </a:ext>
                  </a:extLst>
                </a:gridCol>
                <a:gridCol w="1753453">
                  <a:extLst>
                    <a:ext uri="{9D8B030D-6E8A-4147-A177-3AD203B41FA5}">
                      <a16:colId xmlns:a16="http://schemas.microsoft.com/office/drawing/2014/main" val="2052686578"/>
                    </a:ext>
                  </a:extLst>
                </a:gridCol>
                <a:gridCol w="1594048">
                  <a:extLst>
                    <a:ext uri="{9D8B030D-6E8A-4147-A177-3AD203B41FA5}">
                      <a16:colId xmlns:a16="http://schemas.microsoft.com/office/drawing/2014/main" val="3428179028"/>
                    </a:ext>
                  </a:extLst>
                </a:gridCol>
              </a:tblGrid>
              <a:tr h="630364">
                <a:tc>
                  <a:txBody>
                    <a:bodyPr/>
                    <a:lstStyle/>
                    <a:p>
                      <a:pPr rtl="0" fontAlgn="b"/>
                      <a:r>
                        <a:rPr lang="en-US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</a:rPr>
                        <a:t>Yearly Amount Paid by the Customer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</a:rPr>
                        <a:t>Current Plan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</a:rPr>
                        <a:t>Bargain Upgrades Plan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</a:rPr>
                        <a:t>Savings</a:t>
                      </a: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784179431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rtl="0" fontAlgn="b"/>
                      <a:endParaRPr lang="en-IN">
                        <a:effectLst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IN">
                        <a:effectLst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IN" dirty="0">
                        <a:effectLst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IN">
                        <a:effectLst/>
                      </a:endParaRP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1375925155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12 Months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dirty="0">
                          <a:solidFill>
                            <a:sysClr val="windowText" lastClr="000000"/>
                          </a:solidFill>
                          <a:effectLst/>
                        </a:rPr>
                        <a:t>1,240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dirty="0">
                          <a:solidFill>
                            <a:sysClr val="windowText" lastClr="000000"/>
                          </a:solidFill>
                          <a:effectLst/>
                        </a:rPr>
                        <a:t>1,308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>
                          <a:solidFill>
                            <a:sysClr val="windowText" lastClr="000000"/>
                          </a:solidFill>
                          <a:effectLst/>
                        </a:rPr>
                        <a:t>-5.48%</a:t>
                      </a: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2520391024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rtl="0" fontAlgn="b"/>
                      <a:endParaRPr lang="en-IN">
                        <a:effectLst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IN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IN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IN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3971897992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24 Months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dirty="0">
                          <a:solidFill>
                            <a:sysClr val="windowText" lastClr="000000"/>
                          </a:solidFill>
                          <a:effectLst/>
                        </a:rPr>
                        <a:t>1,190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dirty="0">
                          <a:solidFill>
                            <a:sysClr val="windowText" lastClr="000000"/>
                          </a:solidFill>
                          <a:effectLst/>
                        </a:rPr>
                        <a:t>1,108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>
                          <a:solidFill>
                            <a:sysClr val="windowText" lastClr="000000"/>
                          </a:solidFill>
                          <a:effectLst/>
                        </a:rPr>
                        <a:t>6.89%</a:t>
                      </a: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3223414175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rtl="0" fontAlgn="b"/>
                      <a:endParaRPr lang="en-IN">
                        <a:effectLst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IN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IN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IN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739107947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rtl="0" fontAlgn="b"/>
                      <a:r>
                        <a:rPr lang="en-IN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36 Months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dirty="0">
                          <a:solidFill>
                            <a:sysClr val="windowText" lastClr="000000"/>
                          </a:solidFill>
                          <a:effectLst/>
                        </a:rPr>
                        <a:t>1,173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dirty="0">
                          <a:solidFill>
                            <a:sysClr val="windowText" lastClr="000000"/>
                          </a:solidFill>
                          <a:effectLst/>
                        </a:rPr>
                        <a:t>1,041</a:t>
                      </a:r>
                    </a:p>
                  </a:txBody>
                  <a:tcPr marL="19050" marR="19050" marT="12700" marB="1270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IN" dirty="0">
                          <a:solidFill>
                            <a:sysClr val="windowText" lastClr="000000"/>
                          </a:solidFill>
                          <a:effectLst/>
                        </a:rPr>
                        <a:t>11.25%</a:t>
                      </a:r>
                    </a:p>
                  </a:txBody>
                  <a:tcPr marL="19050" marR="19050" marT="12700" marB="12700" anchor="b"/>
                </a:tc>
                <a:extLst>
                  <a:ext uri="{0D108BD9-81ED-4DB2-BD59-A6C34878D82A}">
                    <a16:rowId xmlns:a16="http://schemas.microsoft.com/office/drawing/2014/main" val="2218954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ompany Best Practices by Slidesgo">
  <a:themeElements>
    <a:clrScheme name="Simple Light">
      <a:dk1>
        <a:srgbClr val="FFFFFF"/>
      </a:dk1>
      <a:lt1>
        <a:srgbClr val="000000"/>
      </a:lt1>
      <a:dk2>
        <a:srgbClr val="B6D7A8"/>
      </a:dk2>
      <a:lt2>
        <a:srgbClr val="94E3CC"/>
      </a:lt2>
      <a:accent1>
        <a:srgbClr val="14A178"/>
      </a:accent1>
      <a:accent2>
        <a:srgbClr val="065640"/>
      </a:accent2>
      <a:accent3>
        <a:srgbClr val="022D26"/>
      </a:accent3>
      <a:accent4>
        <a:srgbClr val="000F0C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Office PowerPoint</Application>
  <PresentationFormat>On-screen Show (16:9)</PresentationFormat>
  <Paragraphs>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Maven Pro</vt:lpstr>
      <vt:lpstr>Arial</vt:lpstr>
      <vt:lpstr>Nunito Light</vt:lpstr>
      <vt:lpstr>Company Best Practices by Slidesgo</vt:lpstr>
      <vt:lpstr>BCG TASK- 4</vt:lpstr>
      <vt:lpstr>Sub-Task 1</vt:lpstr>
      <vt:lpstr>Sub-Task 2.1</vt:lpstr>
      <vt:lpstr>Defining the Target Segment</vt:lpstr>
      <vt:lpstr>Offering Changes &amp; Product Name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Shreya .</cp:lastModifiedBy>
  <cp:revision>1</cp:revision>
  <dcterms:modified xsi:type="dcterms:W3CDTF">2025-01-08T17:48:03Z</dcterms:modified>
</cp:coreProperties>
</file>